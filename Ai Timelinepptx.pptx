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644825c9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644825c9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early decades laid the conceptual foundation for AI: researchers aimed to make machines ‘think’ using logic and symbols.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Turing asked can machines </a:t>
            </a:r>
            <a:r>
              <a:rPr lang="en"/>
              <a:t>think</a:t>
            </a:r>
            <a:r>
              <a:rPr lang="en"/>
              <a:t>?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644825c9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644825c9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hopes met limited computing power and unrealistic goals, leading to two major AI winters. periods when interest and funding dried up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644825c9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644825c9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replaced symbolic reasoning, and computing power finally caught up. Paving the way for neural networks and data-driven AI.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Boom </a:t>
            </a:r>
            <a:r>
              <a:rPr lang="en"/>
              <a:t>happs from synergy </a:t>
            </a:r>
            <a:r>
              <a:rPr lang="en"/>
              <a:t>between</a:t>
            </a:r>
            <a:r>
              <a:rPr lang="en"/>
              <a:t> massive data sets and increased computing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644825c9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644825c9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Today, AI runs on scalable cloud infrastructure and deep neural models. transforming healthcare, finance, and even creative industries.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However ethical considerations - bias and fairness, privacy, accountability,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644825c9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644825c9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67033" y="5432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280"/>
              <a:t>The Evolution of Artificial Intelligence: From Concept to Reality</a:t>
            </a:r>
            <a:endParaRPr b="1" sz="328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11700" y="2175450"/>
            <a:ext cx="8520600" cy="22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020"/>
              <a:t>A Timeline of Key Milestones and Innovations</a:t>
            </a:r>
            <a:endParaRPr sz="202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020"/>
              <a:t>Group 4</a:t>
            </a:r>
            <a:endParaRPr sz="202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202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020"/>
              <a:t>Members:</a:t>
            </a:r>
            <a:endParaRPr sz="202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020"/>
              <a:t>Kanishk Sharma</a:t>
            </a:r>
            <a:endParaRPr sz="202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020"/>
              <a:t>Battina Gopi Chand</a:t>
            </a:r>
            <a:endParaRPr sz="202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020"/>
              <a:t>MacDonald Udokoro</a:t>
            </a:r>
            <a:endParaRPr sz="202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020"/>
              <a:t>Akhil Nimmagadda</a:t>
            </a:r>
            <a:endParaRPr sz="202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020"/>
              <a:t>Navid Gholizadeh</a:t>
            </a:r>
            <a:endParaRPr sz="20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Birth of AI (1950s–1970s)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0456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b="1" lang="en" sz="1700">
                <a:solidFill>
                  <a:srgbClr val="FFFFFF"/>
                </a:solidFill>
              </a:rPr>
              <a:t>1950:</a:t>
            </a:r>
            <a:r>
              <a:rPr lang="en" sz="1700">
                <a:solidFill>
                  <a:srgbClr val="FFFFFF"/>
                </a:solidFill>
              </a:rPr>
              <a:t> Alan Turing proposes the </a:t>
            </a:r>
            <a:r>
              <a:rPr i="1" lang="en" sz="1700">
                <a:solidFill>
                  <a:srgbClr val="FFFFFF"/>
                </a:solidFill>
              </a:rPr>
              <a:t>Turing Test</a:t>
            </a:r>
            <a:endParaRPr i="1" sz="1700">
              <a:solidFill>
                <a:srgbClr val="FFFFFF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b="1" lang="en" sz="1700">
                <a:solidFill>
                  <a:srgbClr val="FFFFFF"/>
                </a:solidFill>
              </a:rPr>
              <a:t>1956:</a:t>
            </a:r>
            <a:r>
              <a:rPr lang="en" sz="1700">
                <a:solidFill>
                  <a:srgbClr val="FFFFFF"/>
                </a:solidFill>
              </a:rPr>
              <a:t> The term </a:t>
            </a:r>
            <a:r>
              <a:rPr i="1" lang="en" sz="1700">
                <a:solidFill>
                  <a:srgbClr val="FFFFFF"/>
                </a:solidFill>
              </a:rPr>
              <a:t>Artificial Intelligence</a:t>
            </a:r>
            <a:r>
              <a:rPr lang="en" sz="1700">
                <a:solidFill>
                  <a:srgbClr val="FFFFFF"/>
                </a:solidFill>
              </a:rPr>
              <a:t> coined at the </a:t>
            </a:r>
            <a:r>
              <a:rPr i="1" lang="en" sz="1700">
                <a:solidFill>
                  <a:srgbClr val="FFFFFF"/>
                </a:solidFill>
              </a:rPr>
              <a:t>Dartmouth Conference</a:t>
            </a:r>
            <a:endParaRPr i="1" sz="1700">
              <a:solidFill>
                <a:srgbClr val="FFFFFF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b="1" lang="en" sz="1700">
                <a:solidFill>
                  <a:srgbClr val="FFFFFF"/>
                </a:solidFill>
              </a:rPr>
              <a:t>1966:</a:t>
            </a:r>
            <a:r>
              <a:rPr lang="en" sz="1700">
                <a:solidFill>
                  <a:srgbClr val="FFFFFF"/>
                </a:solidFill>
              </a:rPr>
              <a:t> ELIZA chatbot developed: first natural language program</a:t>
            </a: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b="1" lang="en" sz="1700">
                <a:solidFill>
                  <a:srgbClr val="FFFFFF"/>
                </a:solidFill>
              </a:rPr>
              <a:t>1970s:</a:t>
            </a:r>
            <a:r>
              <a:rPr lang="en" sz="1700">
                <a:solidFill>
                  <a:srgbClr val="FFFFFF"/>
                </a:solidFill>
              </a:rPr>
              <a:t> Expert systems and symbolic AI rise</a:t>
            </a:r>
            <a:endParaRPr sz="2400">
              <a:solidFill>
                <a:srgbClr val="FFFFFF"/>
              </a:solidFill>
            </a:endParaRPr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7915" y="2691375"/>
            <a:ext cx="3830135" cy="22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AI Winters (1970s–1990s)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311700" y="1228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b="1" lang="en" sz="1700">
                <a:solidFill>
                  <a:srgbClr val="FFFFFF"/>
                </a:solidFill>
              </a:rPr>
              <a:t>AI Winter I (1974–1980):</a:t>
            </a:r>
            <a:r>
              <a:rPr lang="en" sz="1700">
                <a:solidFill>
                  <a:srgbClr val="FFFFFF"/>
                </a:solidFill>
              </a:rPr>
              <a:t> Funding cuts due to unmet expectations</a:t>
            </a: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b="1" lang="en" sz="1700">
                <a:solidFill>
                  <a:srgbClr val="FFFFFF"/>
                </a:solidFill>
              </a:rPr>
              <a:t>AI Winter II (1987–1993):</a:t>
            </a:r>
            <a:r>
              <a:rPr lang="en" sz="1700">
                <a:solidFill>
                  <a:srgbClr val="FFFFFF"/>
                </a:solidFill>
              </a:rPr>
              <a:t> Collapse of expert systems market</a:t>
            </a:r>
            <a:endParaRPr sz="1700">
              <a:solidFill>
                <a:srgbClr val="FFFFFF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</a:pPr>
            <a:r>
              <a:rPr b="1" lang="en" sz="1700">
                <a:solidFill>
                  <a:srgbClr val="FFFFFF"/>
                </a:solidFill>
              </a:rPr>
              <a:t>Impact:</a:t>
            </a:r>
            <a:r>
              <a:rPr lang="en" sz="1700">
                <a:solidFill>
                  <a:srgbClr val="FFFFFF"/>
                </a:solidFill>
              </a:rPr>
              <a:t> Shift in research focus, reduced public trust and investment</a:t>
            </a:r>
            <a:endParaRPr sz="2400">
              <a:solidFill>
                <a:srgbClr val="FFFFFF"/>
              </a:solidFill>
            </a:endParaRPr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5988" y="2206194"/>
            <a:ext cx="1952025" cy="28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Machine Learning Revival (1990s–2010s)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311700" y="1228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●"/>
            </a:pPr>
            <a:r>
              <a:rPr b="1" lang="en">
                <a:solidFill>
                  <a:srgbClr val="FFFFFF"/>
                </a:solidFill>
              </a:rPr>
              <a:t>1997:</a:t>
            </a:r>
            <a:r>
              <a:rPr lang="en">
                <a:solidFill>
                  <a:srgbClr val="FFFFFF"/>
                </a:solidFill>
              </a:rPr>
              <a:t> IBM </a:t>
            </a:r>
            <a:r>
              <a:rPr i="1" lang="en">
                <a:solidFill>
                  <a:srgbClr val="FFFFFF"/>
                </a:solidFill>
              </a:rPr>
              <a:t>Deep Blue</a:t>
            </a:r>
            <a:r>
              <a:rPr lang="en">
                <a:solidFill>
                  <a:srgbClr val="FFFFFF"/>
                </a:solidFill>
              </a:rPr>
              <a:t> defeats world chess champion Garry Kasparov</a:t>
            </a:r>
            <a:endParaRPr>
              <a:solidFill>
                <a:srgbClr val="FFFFFF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●"/>
            </a:pPr>
            <a:r>
              <a:rPr b="1" lang="en">
                <a:solidFill>
                  <a:srgbClr val="FFFFFF"/>
                </a:solidFill>
              </a:rPr>
              <a:t>2006:</a:t>
            </a:r>
            <a:r>
              <a:rPr lang="en">
                <a:solidFill>
                  <a:srgbClr val="FFFFFF"/>
                </a:solidFill>
              </a:rPr>
              <a:t> Geoffrey Hinton popularizes </a:t>
            </a:r>
            <a:r>
              <a:rPr i="1" lang="en">
                <a:solidFill>
                  <a:srgbClr val="FFFFFF"/>
                </a:solidFill>
              </a:rPr>
              <a:t>Deep Learning</a:t>
            </a:r>
            <a:endParaRPr i="1">
              <a:solidFill>
                <a:srgbClr val="FFFFFF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●"/>
            </a:pPr>
            <a:r>
              <a:rPr b="1" lang="en">
                <a:solidFill>
                  <a:srgbClr val="FFFFFF"/>
                </a:solidFill>
              </a:rPr>
              <a:t>2011:</a:t>
            </a:r>
            <a:r>
              <a:rPr lang="en">
                <a:solidFill>
                  <a:srgbClr val="FFFFFF"/>
                </a:solidFill>
              </a:rPr>
              <a:t> IBM </a:t>
            </a:r>
            <a:r>
              <a:rPr i="1" lang="en">
                <a:solidFill>
                  <a:srgbClr val="FFFFFF"/>
                </a:solidFill>
              </a:rPr>
              <a:t>Watson</a:t>
            </a:r>
            <a:r>
              <a:rPr lang="en">
                <a:solidFill>
                  <a:srgbClr val="FFFFFF"/>
                </a:solidFill>
              </a:rPr>
              <a:t> wins </a:t>
            </a:r>
            <a:r>
              <a:rPr i="1" lang="en">
                <a:solidFill>
                  <a:srgbClr val="FFFFFF"/>
                </a:solidFill>
              </a:rPr>
              <a:t>Jeopardy!</a:t>
            </a:r>
            <a:endParaRPr i="1">
              <a:solidFill>
                <a:srgbClr val="FFFFFF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●"/>
            </a:pPr>
            <a:r>
              <a:rPr b="1" lang="en">
                <a:solidFill>
                  <a:srgbClr val="FFFFFF"/>
                </a:solidFill>
              </a:rPr>
              <a:t>2012: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i="1" lang="en">
                <a:solidFill>
                  <a:srgbClr val="FFFFFF"/>
                </a:solidFill>
              </a:rPr>
              <a:t>AlexNet</a:t>
            </a:r>
            <a:r>
              <a:rPr lang="en">
                <a:solidFill>
                  <a:srgbClr val="FFFFFF"/>
                </a:solidFill>
              </a:rPr>
              <a:t> wins ImageNet: the deep learning boom begins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AI &amp; Cloud Era (2010s–Present)</a:t>
            </a:r>
            <a:endParaRPr/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b="1" lang="en" sz="1600">
                <a:solidFill>
                  <a:srgbClr val="FFFFFF"/>
                </a:solidFill>
              </a:rPr>
              <a:t>2016:</a:t>
            </a:r>
            <a:r>
              <a:rPr lang="en" sz="1600">
                <a:solidFill>
                  <a:srgbClr val="FFFFFF"/>
                </a:solidFill>
              </a:rPr>
              <a:t> </a:t>
            </a:r>
            <a:r>
              <a:rPr i="1" lang="en" sz="1600">
                <a:solidFill>
                  <a:srgbClr val="FFFFFF"/>
                </a:solidFill>
              </a:rPr>
              <a:t>AlphaGo</a:t>
            </a:r>
            <a:r>
              <a:rPr lang="en" sz="1600">
                <a:solidFill>
                  <a:srgbClr val="FFFFFF"/>
                </a:solidFill>
              </a:rPr>
              <a:t> beats Lee Sedol — reinforcement learning milestone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b="1" lang="en" sz="1600">
                <a:solidFill>
                  <a:srgbClr val="FFFFFF"/>
                </a:solidFill>
              </a:rPr>
              <a:t>2018–2020:</a:t>
            </a:r>
            <a:r>
              <a:rPr lang="en" sz="1600">
                <a:solidFill>
                  <a:srgbClr val="FFFFFF"/>
                </a:solidFill>
              </a:rPr>
              <a:t> Cloud AI from Google, Amazon, and Microsoft democratizes access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b="1" lang="en" sz="1600">
                <a:solidFill>
                  <a:srgbClr val="FFFFFF"/>
                </a:solidFill>
              </a:rPr>
              <a:t>2022–2025:</a:t>
            </a:r>
            <a:r>
              <a:rPr lang="en" sz="1600">
                <a:solidFill>
                  <a:srgbClr val="FFFFFF"/>
                </a:solidFill>
              </a:rPr>
              <a:t> Generative AI (GPT-4, Claude, Gemini) revolutionizes industries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b="1" lang="en" sz="1600">
                <a:solidFill>
                  <a:srgbClr val="FFFFFF"/>
                </a:solidFill>
              </a:rPr>
              <a:t>Leaders:</a:t>
            </a:r>
            <a:r>
              <a:rPr lang="en" sz="1600">
                <a:solidFill>
                  <a:srgbClr val="FFFFFF"/>
                </a:solidFill>
              </a:rPr>
              <a:t> OpenAI, DeepMind, Google, DataRobot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</p:txBody>
      </p:sp>
      <p:pic>
        <p:nvPicPr>
          <p:cNvPr id="162" name="Google Shape;1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8675" y="2571750"/>
            <a:ext cx="2887725" cy="23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520"/>
              <a:t>Thank you for listening!</a:t>
            </a:r>
            <a:endParaRPr sz="45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5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520"/>
          </a:p>
        </p:txBody>
      </p:sp>
      <p:sp>
        <p:nvSpPr>
          <p:cNvPr id="168" name="Google Shape;168;p18"/>
          <p:cNvSpPr txBox="1"/>
          <p:nvPr>
            <p:ph idx="1" type="body"/>
          </p:nvPr>
        </p:nvSpPr>
        <p:spPr>
          <a:xfrm>
            <a:off x="311700" y="1500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100">
                <a:solidFill>
                  <a:srgbClr val="FFFFFF"/>
                </a:solidFill>
              </a:rPr>
              <a:t>Questions? Just ask ChatGPT :)</a:t>
            </a:r>
            <a:endParaRPr sz="3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